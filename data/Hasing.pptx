
<file path=[Content_Types].xml><?xml version="1.0" encoding="utf-8"?>
<Types xmlns="http://schemas.openxmlformats.org/package/2006/content-types">
  <Default Extension="webp"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5" d="100"/>
          <a:sy n="75" d="100"/>
        </p:scale>
        <p:origin x="45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3.31707" units="1/cm"/>
          <inkml:channelProperty channel="Y" name="resolution" value="33.3913" units="1/cm"/>
          <inkml:channelProperty channel="T" name="resolution" value="1" units="1/dev"/>
        </inkml:channelProperties>
      </inkml:inkSource>
      <inkml:timestamp xml:id="ts0" timeString="2025-07-28T14:00:58.574"/>
    </inkml:context>
    <inkml:brush xml:id="br0">
      <inkml:brushProperty name="width" value="0.21167" units="cm"/>
      <inkml:brushProperty name="height" value="0.21167" units="cm"/>
      <inkml:brushProperty name="color" value="#3165BB"/>
      <inkml:brushProperty name="fitToCurve" value="1"/>
    </inkml:brush>
  </inkml:definitions>
  <inkml:traceGroup>
    <inkml:annotationXML>
      <emma:emma xmlns:emma="http://www.w3.org/2003/04/emma" version="1.0">
        <emma:interpretation id="{97C9CE1A-1EF8-44F5-8F55-E2C09D7B06DC}" emma:medium="tactile" emma:mode="ink">
          <msink:context xmlns:msink="http://schemas.microsoft.com/ink/2010/main" type="writingRegion" rotatedBoundingBox="25653,5963 27629,6071 27578,7021 25601,6914"/>
        </emma:interpretation>
      </emma:emma>
    </inkml:annotationXML>
    <inkml:traceGroup>
      <inkml:annotationXML>
        <emma:emma xmlns:emma="http://www.w3.org/2003/04/emma" version="1.0">
          <emma:interpretation id="{48824694-6F74-4749-A8AA-2B3CAE2B4187}" emma:medium="tactile" emma:mode="ink">
            <msink:context xmlns:msink="http://schemas.microsoft.com/ink/2010/main" type="paragraph" rotatedBoundingBox="25653,5963 27629,6071 27578,7021 25601,6914" alignmentLevel="1"/>
          </emma:interpretation>
        </emma:emma>
      </inkml:annotationXML>
      <inkml:traceGroup>
        <inkml:annotationXML>
          <emma:emma xmlns:emma="http://www.w3.org/2003/04/emma" version="1.0">
            <emma:interpretation id="{2997C3F1-E3AA-42F9-AC7F-2FBA00CB2707}" emma:medium="tactile" emma:mode="ink">
              <msink:context xmlns:msink="http://schemas.microsoft.com/ink/2010/main" type="line" rotatedBoundingBox="25653,5963 27629,6071 27578,7021 25601,6914"/>
            </emma:interpretation>
          </emma:emma>
        </inkml:annotationXML>
        <inkml:traceGroup>
          <inkml:annotationXML>
            <emma:emma xmlns:emma="http://www.w3.org/2003/04/emma" version="1.0">
              <emma:interpretation id="{993F1939-996C-47E4-8AD8-8E570A59CD4D}" emma:medium="tactile" emma:mode="ink">
                <msink:context xmlns:msink="http://schemas.microsoft.com/ink/2010/main" type="inkWord" rotatedBoundingBox="25646,6102 25718,6105 25716,6139 25644,6135"/>
              </emma:interpretation>
              <emma:one-of disjunction-type="recognition" id="oneOf0">
                <emma:interpretation id="interp0" emma:lang="" emma:confidence="1">
                  <emma:literal/>
                </emma:interpretation>
              </emma:one-of>
            </emma:emma>
          </inkml:annotationXML>
          <inkml:trace contextRef="#ctx0" brushRef="#br0">-141 108 0,'35'36'94,"1"-36"-78</inkml:trace>
        </inkml:traceGroup>
        <inkml:traceGroup>
          <inkml:annotationXML>
            <emma:emma xmlns:emma="http://www.w3.org/2003/04/emma" version="1.0">
              <emma:interpretation id="{A32192BA-6113-49B7-8753-2E494FE623D6}" emma:medium="tactile" emma:mode="ink">
                <msink:context xmlns:msink="http://schemas.microsoft.com/ink/2010/main" type="inkWord" rotatedBoundingBox="25756,6048 27625,6149 27578,7021 25709,6919"/>
              </emma:interpretation>
              <emma:one-of disjunction-type="recognition" id="oneOf1">
                <emma:interpretation id="interp1" emma:lang="" emma:confidence="0.5">
                  <emma:literal>.</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B</emma:literal>
                </emma:interpretation>
                <emma:interpretation id="interp5" emma:lang="" emma:confidence="0">
                  <emma:literal>G</emma:literal>
                </emma:interpretation>
              </emma:one-of>
            </emma:emma>
          </inkml:annotationXML>
          <inkml:trace contextRef="#ctx0" brushRef="#br0" timeOffset="7877.9867">-35 144 0,'70'0'218,"-70"35"-218,0 0 16,36 0 0,-36 1-16,0-1 15,70 35 17,-70-34 77,0-1-47,0 0-15,0 1-15,0-1-1,0 0 16,0 0 0,0 1-47,36-1 62,-36 0-46,0 1 31,0-1 156,0 0-188,35 0 79,0 1-47,0-36 265,36 0-296,-36 0 0,36 35-16,-36-35 47,0 0-32,1 0-15,-1 0 31,0 0-15,0 0 31,1 0-47,-1 0 62,0 0-30,1 0-32,-1 0 15,35 0 32,-34 0-47,-1 0 63,0 0-48,0 0-15,1 0 32,-1 0-1,0 0-16,1 0 1,34 0 15,-35 0 47,36 0-62,-36 0 0,1 0-1,-1 0 1,0 0 15,0 0-15,1 0-1,-1 0 32,0 0-15,0 0-32,1-71 15,-1 71 48,0 0-48,-35-35 360,0-35-375,0 34 172,-35 36-156,0-35 31,-1 0 0,36-1-32,0 1-15,-35 0 16,0 0-1,0-1 1,-1-34 0,36 34 109,0 1-63,-35 0-62,35 0 78,0-1-62,0 1 46,0 0-30,0 0 280,-70 35-265,34 0-47,1 0 16,0 0 343,70 0-218,0 0-126,36 0 1,-36 0 0,36 0 93,-36 0 0,-35 35 219,-35-35-281,-36 0 0,36 0-47,-36 0 16,36 35-1,0-35 17,-1 0-32,1 0 62,-35 0 48,34 0-48,-34 0-15,34 0-31,-34 0 93,35 0-62,-36 0 62,36 0-93,0 0 31,-1 35-47,1 1 31,35-1-15,0 0-1,-35 0 16,-36 36 1,71-36-1,-35-35-15,35 36-1,-35-1-15,35 0 16,0 0-1,-36 36 17,36-36-17,0 1 48,-35-72 406,35 1-376,-35 0-46,-1-1-31,1 1 15</inkml:trace>
        </inkml:traceGroup>
        <inkml:traceGroup>
          <inkml:annotationXML>
            <emma:emma xmlns:emma="http://www.w3.org/2003/04/emma" version="1.0">
              <emma:interpretation id="{41BCBDCE-9C7A-49CC-8510-2F99713A82AF}" emma:medium="tactile" emma:mode="ink">
                <msink:context xmlns:msink="http://schemas.microsoft.com/ink/2010/main" type="inkWord" rotatedBoundingBox="25792,5971 27626,6070 27577,6958 25744,6858"/>
              </emma:interpretation>
              <emma:one-of disjunction-type="recognition" id="oneOf2">
                <emma:interpretation id="interp6" emma:lang="" emma:confidence="1">
                  <emma:literal/>
                </emma:interpretation>
              </emma:one-of>
            </emma:emma>
          </inkml:annotationXML>
          <inkml:trace contextRef="#ctx0" brushRef="#br0" timeOffset="-2036.6501">212 73 0,'35'0'78,"36"0"-31,-36 35-47,35 36 16,1-36-16,0 36 15,-36-36-15,71 71 16,-36-71 0,-34 0-16,-1 1 15,0-36-15,0 35 63,1-35-63,-1 35 15,0-35-15,0 0 32,1 0-17,-1 35 1,0-35-1,1 36-15,-1-36 16,0 0 15,0 0 1,1 0-32,-1 0 15,0 0 1,1 0-16,-1 0 15,0 0 48,0-36-63,1 36 16,-1-35 77,-35 0-77,0 0 0,0-1-1,0 1 1,0 0-1,0-1 1,0 1 0,0 0 77,0 0-93,-71 35 32,36 0-1,0 0 0,0 0-31,-1 0 0,1 0 16,-36 0-1,1 0-15,-36 0 16,0 0-16,71 0 16,-36 0-16,1 35 15,-1-35-15,36 0 16,-71 0-16,71 0 16,-36 0-16,36 0 62,141 0 79,-71-35-141,71 35 15,-71 0-15,36 0 16,-36-36-16,0 36 16,1 0-1,-36-35 79,35 35-78,0 0-16,-35-35 0,35 35 31,-105 0 47,-36 0-78,36 35 16,34-35-16,-34 0 15,-36 35 1,71-35-16,-36 0 15,36 0-15,-36 0 16,36 0-16,0 0 16,-1 0-16,36-35 156,0 0-125,36 35-15,-1-35-1,0-1 1,36 1 0,-71 0 31,0-1-47,0 72 109,0-1-93,0 0-16,0 1 15,0 34 1,0-35-16,0 36 31,0-36-31,0 36 16,0-1-16,0 1 15,0-36 251,0 0-235,70-35-31,-34 0 16,-1 36-16,71-1 15,35-35 1,0 0-16,0 0 16,-35 0-16,-36 0 15,-34 0-15,-1 0 141,0 0-125,1 0 30,-1-35-46,-35-1 157,0 1-126,0 0 0,0 0-15,0-1-1,0-34 17,-35 70-17,35-36 1,0 1 78,0 0-32,-36 0-31,-34 35-31,-36 0 32,71 0-32,-36 0 15,36 0-15,-71 0 16,71 0-16,-36 0 16,36 0 15,35 35-31,-71-35 47,36 35-32,0 0-15,35 1 16,-36-36 31,72 0 78,105 0-110,-71 0-15,71 70 16,-70-70-16,-36 0 16,1 0-16,34 0 15,-35 0-15,1 0 16,-1 0-16,0 0 31,36 0-15,-36 0 15,0 0-31,1 0 16,-72 0 140,-34 0-156,35 0 16,-36 0-16,36 36 0,-71-36 15,0 0 1,35 35-16,-34-35 15,34 0-15,36 0 16,-36 0 0,36 0-1,0 0 17,-1 0-32,1 0 31,0 0 31,0 0-46,-1 0 0,1 0-16,0 0 31,35-35 109,0-1-77,0 1-32,0 0-15,0-1 31,-71-34-32,1 35 1,70-1 0,-106 1-16,71 0 15,-71-36-15,35 71 16,71-35 46,71 35 1,35 0-63,-71 0 15,0 0 1,0 0 0,36 0-16,-36 0 15,71 0-15,-71 0 16,71 0 0,0 0-16,-35 0 0,-36 0 15,0 0-15,0 0 78,36 0-78,-1 0 16,-34 0 0,-1 0-1,0 0 1,1 0-1,-1 0 17,0 0-17,0 0 1,1 0 0,-1 0 15,0 0-31,1 0 15,-1 0 1,0 0 62,0 0-78,1 0 16,-1 0 93,0 0-109,0 0 94,1 0-94,-1 0 78,0 35-62,-35 1 77,0-1-77,0 0 0,0 0-16,0 1 78,0-1-63,0 0 17,0 0-32,0 1 31,0-1 141,0 0-141,0 1-15,0-1-1,0 0 1,0 0 0,0 1-1,0-1 16,0 0-15,0 1 125,0-1-79,-35-35-46,-36 0-1,1 0 1,35 0-16,-1 0 16,-34 70-16,-1-70 31,36 0-15,-36 0-1,36 0 1,-35 0-1,-1 0-15,36 0 16,-1 0 93,1 0-109,0 0 32,0 0 30,-36 0-46,36 0-1,-36 0 48,36 0-1,-36 0-30,36 0 61,0 0-77,0 0 15,-1 0 1,1 0-17,0 0 1,-1 0 46,1 0-46,0 0 0,0 0 265,35-70-266,-36 35 48,1-36 62,0 0-109,35 36 46,0 0-46,0 0 46,0-1-31,0 1 32,0 0-32,0-1 0,0 1 1,0-35 46,0 34 78,0-34 219,-35 35-359,-1 35 499,1-36-437,35 1-62,-35 35 156,35 35 172,0 1-344,0-1 15,0 0-15,0 0 16,0 36 0,0-36 15,35 0-16,0-35 32,-35 36-31,36-1 0,-36 0 46,35-35 1,0 36-63,-35-1 46,0 0 79,0 0-78,35 1-31,-35-1 46,0 0-30,36 1 30,-36-1 94,0 0-156,35-35 110,0 0-110,0 0 15,1 0 1,-1 0 0,0 0 62,1 0-31,-1 0 140,0 0-171,0 0 31,1 0-32,-1 0 1,0 0 218</inkml:trace>
        </inkml:traceGroup>
      </inkml:traceGroup>
    </inkml:traceGroup>
  </inkml:traceGroup>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3ED763A-7E82-42F5-BE26-7022CD655720}" type="datetimeFigureOut">
              <a:rPr lang="en-US" smtClean="0"/>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66200-2086-4BF9-805C-466F1F52BD87}" type="slidenum">
              <a:rPr lang="en-US" smtClean="0"/>
              <a:t>‹#›</a:t>
            </a:fld>
            <a:endParaRPr lang="en-US"/>
          </a:p>
        </p:txBody>
      </p:sp>
    </p:spTree>
    <p:extLst>
      <p:ext uri="{BB962C8B-B14F-4D97-AF65-F5344CB8AC3E}">
        <p14:creationId xmlns:p14="http://schemas.microsoft.com/office/powerpoint/2010/main" val="1155911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ED763A-7E82-42F5-BE26-7022CD655720}" type="datetimeFigureOut">
              <a:rPr lang="en-US" smtClean="0"/>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66200-2086-4BF9-805C-466F1F52BD87}" type="slidenum">
              <a:rPr lang="en-US" smtClean="0"/>
              <a:t>‹#›</a:t>
            </a:fld>
            <a:endParaRPr lang="en-US"/>
          </a:p>
        </p:txBody>
      </p:sp>
    </p:spTree>
    <p:extLst>
      <p:ext uri="{BB962C8B-B14F-4D97-AF65-F5344CB8AC3E}">
        <p14:creationId xmlns:p14="http://schemas.microsoft.com/office/powerpoint/2010/main" val="2710318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3ED763A-7E82-42F5-BE26-7022CD655720}" type="datetimeFigureOut">
              <a:rPr lang="en-US" smtClean="0"/>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66200-2086-4BF9-805C-466F1F52BD87}" type="slidenum">
              <a:rPr lang="en-US" smtClean="0"/>
              <a:t>‹#›</a:t>
            </a:fld>
            <a:endParaRPr lang="en-US"/>
          </a:p>
        </p:txBody>
      </p:sp>
    </p:spTree>
    <p:extLst>
      <p:ext uri="{BB962C8B-B14F-4D97-AF65-F5344CB8AC3E}">
        <p14:creationId xmlns:p14="http://schemas.microsoft.com/office/powerpoint/2010/main" val="3910877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3ED763A-7E82-42F5-BE26-7022CD655720}" type="datetimeFigureOut">
              <a:rPr lang="en-US" smtClean="0"/>
              <a:t>28-Jul-25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066200-2086-4BF9-805C-466F1F52BD87}" type="slidenum">
              <a:rPr lang="en-US" smtClean="0"/>
              <a:t>‹#›</a:t>
            </a:fld>
            <a:endParaRPr lang="en-US"/>
          </a:p>
        </p:txBody>
      </p:sp>
    </p:spTree>
    <p:extLst>
      <p:ext uri="{BB962C8B-B14F-4D97-AF65-F5344CB8AC3E}">
        <p14:creationId xmlns:p14="http://schemas.microsoft.com/office/powerpoint/2010/main" val="3225765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3ED763A-7E82-42F5-BE26-7022CD655720}" type="datetimeFigureOut">
              <a:rPr lang="en-US" smtClean="0"/>
              <a:t>28-Jul-25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066200-2086-4BF9-805C-466F1F52BD87}" type="slidenum">
              <a:rPr lang="en-US" smtClean="0"/>
              <a:t>‹#›</a:t>
            </a:fld>
            <a:endParaRPr lang="en-US"/>
          </a:p>
        </p:txBody>
      </p:sp>
    </p:spTree>
    <p:extLst>
      <p:ext uri="{BB962C8B-B14F-4D97-AF65-F5344CB8AC3E}">
        <p14:creationId xmlns:p14="http://schemas.microsoft.com/office/powerpoint/2010/main" val="253268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3ED763A-7E82-42F5-BE26-7022CD655720}" type="datetimeFigureOut">
              <a:rPr lang="en-US" smtClean="0"/>
              <a:t>28-Jul-25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066200-2086-4BF9-805C-466F1F52BD87}" type="slidenum">
              <a:rPr lang="en-US" smtClean="0"/>
              <a:t>‹#›</a:t>
            </a:fld>
            <a:endParaRPr lang="en-US"/>
          </a:p>
        </p:txBody>
      </p:sp>
    </p:spTree>
    <p:extLst>
      <p:ext uri="{BB962C8B-B14F-4D97-AF65-F5344CB8AC3E}">
        <p14:creationId xmlns:p14="http://schemas.microsoft.com/office/powerpoint/2010/main" val="1274381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ED763A-7E82-42F5-BE26-7022CD655720}" type="datetimeFigureOut">
              <a:rPr lang="en-US" smtClean="0"/>
              <a:t>28-Jul-25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066200-2086-4BF9-805C-466F1F52BD87}" type="slidenum">
              <a:rPr lang="en-US" smtClean="0"/>
              <a:t>‹#›</a:t>
            </a:fld>
            <a:endParaRPr lang="en-US"/>
          </a:p>
        </p:txBody>
      </p:sp>
    </p:spTree>
    <p:extLst>
      <p:ext uri="{BB962C8B-B14F-4D97-AF65-F5344CB8AC3E}">
        <p14:creationId xmlns:p14="http://schemas.microsoft.com/office/powerpoint/2010/main" val="2487319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3ED763A-7E82-42F5-BE26-7022CD655720}" type="datetimeFigureOut">
              <a:rPr lang="en-US" smtClean="0"/>
              <a:t>28-Jul-25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066200-2086-4BF9-805C-466F1F52BD87}" type="slidenum">
              <a:rPr lang="en-US" smtClean="0"/>
              <a:t>‹#›</a:t>
            </a:fld>
            <a:endParaRPr lang="en-US"/>
          </a:p>
        </p:txBody>
      </p:sp>
    </p:spTree>
    <p:extLst>
      <p:ext uri="{BB962C8B-B14F-4D97-AF65-F5344CB8AC3E}">
        <p14:creationId xmlns:p14="http://schemas.microsoft.com/office/powerpoint/2010/main" val="4156708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3ED763A-7E82-42F5-BE26-7022CD655720}" type="datetimeFigureOut">
              <a:rPr lang="en-US" smtClean="0"/>
              <a:t>28-Jul-25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066200-2086-4BF9-805C-466F1F52BD87}" type="slidenum">
              <a:rPr lang="en-US" smtClean="0"/>
              <a:t>‹#›</a:t>
            </a:fld>
            <a:endParaRPr lang="en-US"/>
          </a:p>
        </p:txBody>
      </p:sp>
    </p:spTree>
    <p:extLst>
      <p:ext uri="{BB962C8B-B14F-4D97-AF65-F5344CB8AC3E}">
        <p14:creationId xmlns:p14="http://schemas.microsoft.com/office/powerpoint/2010/main" val="2205508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ED763A-7E82-42F5-BE26-7022CD655720}" type="datetimeFigureOut">
              <a:rPr lang="en-US" smtClean="0"/>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66200-2086-4BF9-805C-466F1F52BD87}" type="slidenum">
              <a:rPr lang="en-US" smtClean="0"/>
              <a:t>‹#›</a:t>
            </a:fld>
            <a:endParaRPr lang="en-US"/>
          </a:p>
        </p:txBody>
      </p:sp>
    </p:spTree>
    <p:extLst>
      <p:ext uri="{BB962C8B-B14F-4D97-AF65-F5344CB8AC3E}">
        <p14:creationId xmlns:p14="http://schemas.microsoft.com/office/powerpoint/2010/main" val="2419992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ED763A-7E82-42F5-BE26-7022CD655720}" type="datetimeFigureOut">
              <a:rPr lang="en-US" smtClean="0"/>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66200-2086-4BF9-805C-466F1F52BD87}" type="slidenum">
              <a:rPr lang="en-US" smtClean="0"/>
              <a:t>‹#›</a:t>
            </a:fld>
            <a:endParaRPr lang="en-US"/>
          </a:p>
        </p:txBody>
      </p:sp>
    </p:spTree>
    <p:extLst>
      <p:ext uri="{BB962C8B-B14F-4D97-AF65-F5344CB8AC3E}">
        <p14:creationId xmlns:p14="http://schemas.microsoft.com/office/powerpoint/2010/main" val="4057805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ED763A-7E82-42F5-BE26-7022CD655720}" type="datetimeFigureOut">
              <a:rPr lang="en-US" smtClean="0"/>
              <a:t>28-Jul-25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066200-2086-4BF9-805C-466F1F52BD87}" type="slidenum">
              <a:rPr lang="en-US" smtClean="0"/>
              <a:t>‹#›</a:t>
            </a:fld>
            <a:endParaRPr lang="en-US"/>
          </a:p>
        </p:txBody>
      </p:sp>
    </p:spTree>
    <p:extLst>
      <p:ext uri="{BB962C8B-B14F-4D97-AF65-F5344CB8AC3E}">
        <p14:creationId xmlns:p14="http://schemas.microsoft.com/office/powerpoint/2010/main" val="3991714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webp"/><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webp"/><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028825" y="476108"/>
            <a:ext cx="8467725" cy="646331"/>
          </a:xfrm>
          <a:prstGeom prst="rect">
            <a:avLst/>
          </a:prstGeom>
          <a:noFill/>
        </p:spPr>
        <p:txBody>
          <a:bodyPr wrap="square" rtlCol="0">
            <a:spAutoFit/>
          </a:bodyPr>
          <a:lstStyle/>
          <a:p>
            <a:pPr algn="ctr" fontAlgn="base"/>
            <a:r>
              <a:rPr lang="en-US" sz="3600" b="1" dirty="0">
                <a:solidFill>
                  <a:srgbClr val="0070C0"/>
                </a:solidFill>
                <a:latin typeface="Times New Roman" panose="02020603050405020304" pitchFamily="18" charset="0"/>
                <a:cs typeface="Times New Roman" panose="02020603050405020304" pitchFamily="18" charset="0"/>
              </a:rPr>
              <a:t>Hashing</a:t>
            </a:r>
            <a:endParaRPr lang="en-US" sz="3600" dirty="0">
              <a:solidFill>
                <a:srgbClr val="0070C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955342" y="2115404"/>
            <a:ext cx="10246057" cy="3046988"/>
          </a:xfrm>
          <a:prstGeom prst="rect">
            <a:avLst/>
          </a:prstGeom>
          <a:noFill/>
        </p:spPr>
        <p:txBody>
          <a:bodyPr wrap="square" rtlCol="0">
            <a:spAutoFit/>
          </a:bodyPr>
          <a:lstStyle/>
          <a:p>
            <a:pPr fontAlgn="base"/>
            <a:r>
              <a:rPr lang="en-US" sz="3200" b="1" dirty="0">
                <a:latin typeface="Times New Roman" panose="02020603050405020304" pitchFamily="18" charset="0"/>
                <a:cs typeface="Times New Roman" panose="02020603050405020304" pitchFamily="18" charset="0"/>
              </a:rPr>
              <a:t>Hashing</a:t>
            </a:r>
            <a:r>
              <a:rPr lang="en-US" sz="3200" dirty="0">
                <a:latin typeface="Times New Roman" panose="02020603050405020304" pitchFamily="18" charset="0"/>
                <a:cs typeface="Times New Roman" panose="02020603050405020304" pitchFamily="18" charset="0"/>
              </a:rPr>
              <a:t> is a technique used in data structures that efficiently stores and retrieves data in a way that allows for quick access.</a:t>
            </a:r>
          </a:p>
          <a:p>
            <a:pPr fontAlgn="base"/>
            <a:r>
              <a:rPr lang="en-US" sz="3200" b="1" dirty="0">
                <a:latin typeface="Times New Roman" panose="02020603050405020304" pitchFamily="18" charset="0"/>
                <a:cs typeface="Times New Roman" panose="02020603050405020304" pitchFamily="18" charset="0"/>
              </a:rPr>
              <a:t>Hash functions</a:t>
            </a:r>
            <a:r>
              <a:rPr lang="en-US" sz="3200" dirty="0">
                <a:latin typeface="Times New Roman" panose="02020603050405020304" pitchFamily="18" charset="0"/>
                <a:cs typeface="Times New Roman" panose="02020603050405020304" pitchFamily="18" charset="0"/>
              </a:rPr>
              <a:t> are a fundamental concept in computer science and play a crucial role in various applications such as data storage, retrieval, and cryptography.</a:t>
            </a:r>
          </a:p>
        </p:txBody>
      </p:sp>
    </p:spTree>
    <p:extLst>
      <p:ext uri="{BB962C8B-B14F-4D97-AF65-F5344CB8AC3E}">
        <p14:creationId xmlns:p14="http://schemas.microsoft.com/office/powerpoint/2010/main" val="1252368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38250" y="523733"/>
            <a:ext cx="8467725" cy="461665"/>
          </a:xfrm>
          <a:prstGeom prst="rect">
            <a:avLst/>
          </a:prstGeom>
          <a:noFill/>
        </p:spPr>
        <p:txBody>
          <a:bodyPr wrap="square" rtlCol="0">
            <a:spAutoFit/>
          </a:bodyPr>
          <a:lstStyle/>
          <a:p>
            <a:pPr algn="ctr" fontAlgn="base"/>
            <a:r>
              <a:rPr lang="en-US" sz="2400" b="1" dirty="0">
                <a:solidFill>
                  <a:srgbClr val="7030A0"/>
                </a:solidFill>
                <a:latin typeface="Times New Roman" panose="02020603050405020304" pitchFamily="18" charset="0"/>
                <a:cs typeface="Times New Roman" panose="02020603050405020304" pitchFamily="18" charset="0"/>
              </a:rPr>
              <a:t>Types of Hash Functions</a:t>
            </a:r>
          </a:p>
        </p:txBody>
      </p:sp>
      <p:sp>
        <p:nvSpPr>
          <p:cNvPr id="7" name="TextBox 6"/>
          <p:cNvSpPr txBox="1"/>
          <p:nvPr/>
        </p:nvSpPr>
        <p:spPr>
          <a:xfrm>
            <a:off x="955342" y="2115404"/>
            <a:ext cx="10246057" cy="3170099"/>
          </a:xfrm>
          <a:prstGeom prst="rect">
            <a:avLst/>
          </a:prstGeom>
          <a:noFill/>
        </p:spPr>
        <p:txBody>
          <a:bodyPr wrap="square" rtlCol="0">
            <a:spAutoFit/>
          </a:bodyPr>
          <a:lstStyle/>
          <a:p>
            <a:pPr marL="285750" lvl="0" indent="-285750" fontAlgn="base">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Division Method.</a:t>
            </a:r>
          </a:p>
          <a:p>
            <a:pPr marL="285750" lvl="0" indent="-285750" fontAlgn="base">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Multiplication Method</a:t>
            </a:r>
          </a:p>
          <a:p>
            <a:pPr marL="285750" lvl="0" indent="-285750" fontAlgn="base">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Mid-Square Method</a:t>
            </a:r>
          </a:p>
          <a:p>
            <a:pPr marL="285750" lvl="0" indent="-285750" fontAlgn="base">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Folding Method</a:t>
            </a:r>
          </a:p>
          <a:p>
            <a:pPr marL="285750" lvl="0" indent="-285750" fontAlgn="base">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Cryptographic Hash Functions</a:t>
            </a:r>
          </a:p>
          <a:p>
            <a:pPr marL="285750" lvl="0" indent="-285750" fontAlgn="base">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Universal Hashing</a:t>
            </a:r>
          </a:p>
          <a:p>
            <a:pPr marL="285750" lvl="0" indent="-285750" fontAlgn="base">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Perfect Hashing</a:t>
            </a:r>
          </a:p>
          <a:p>
            <a:pPr fontAlgn="base"/>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1812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55342" y="514208"/>
            <a:ext cx="8467725" cy="523220"/>
          </a:xfrm>
          <a:prstGeom prst="rect">
            <a:avLst/>
          </a:prstGeom>
          <a:noFill/>
        </p:spPr>
        <p:txBody>
          <a:bodyPr wrap="square" rtlCol="0">
            <a:spAutoFit/>
          </a:bodyPr>
          <a:lstStyle/>
          <a:p>
            <a:pPr algn="ctr" fontAlgn="base"/>
            <a:r>
              <a:rPr lang="en-US" sz="2800" b="1" dirty="0">
                <a:solidFill>
                  <a:srgbClr val="002060"/>
                </a:solidFill>
                <a:latin typeface="Times New Roman" panose="02020603050405020304" pitchFamily="18" charset="0"/>
                <a:cs typeface="Times New Roman" panose="02020603050405020304" pitchFamily="18" charset="0"/>
              </a:rPr>
              <a:t>Division Method</a:t>
            </a:r>
          </a:p>
        </p:txBody>
      </p:sp>
      <p:sp>
        <p:nvSpPr>
          <p:cNvPr id="7" name="TextBox 6"/>
          <p:cNvSpPr txBox="1"/>
          <p:nvPr/>
        </p:nvSpPr>
        <p:spPr>
          <a:xfrm>
            <a:off x="955342" y="2115404"/>
            <a:ext cx="10246057" cy="1815882"/>
          </a:xfrm>
          <a:prstGeom prst="rect">
            <a:avLst/>
          </a:prstGeom>
          <a:noFill/>
        </p:spPr>
        <p:txBody>
          <a:bodyPr wrap="square" rtlCol="0">
            <a:spAutoFit/>
          </a:bodyPr>
          <a:lstStyle/>
          <a:p>
            <a:pPr fontAlgn="base"/>
            <a:r>
              <a:rPr lang="en-US" sz="2000" dirty="0">
                <a:latin typeface="Times New Roman" panose="02020603050405020304" pitchFamily="18" charset="0"/>
                <a:cs typeface="Times New Roman" panose="02020603050405020304" pitchFamily="18" charset="0"/>
              </a:rPr>
              <a:t>The division method involves dividing the key by a prime number and using the remainder as the hash value.</a:t>
            </a:r>
          </a:p>
          <a:p>
            <a:pPr fontAlgn="base"/>
            <a:r>
              <a:rPr lang="en-US" sz="2000" i="1" dirty="0">
                <a:latin typeface="Times New Roman" panose="02020603050405020304" pitchFamily="18" charset="0"/>
                <a:cs typeface="Times New Roman" panose="02020603050405020304" pitchFamily="18" charset="0"/>
              </a:rPr>
              <a:t>h(k)=k mod m</a:t>
            </a:r>
            <a:endParaRPr lang="en-US" sz="2000" dirty="0">
              <a:latin typeface="Times New Roman" panose="02020603050405020304" pitchFamily="18" charset="0"/>
              <a:cs typeface="Times New Roman" panose="02020603050405020304" pitchFamily="18" charset="0"/>
            </a:endParaRPr>
          </a:p>
          <a:p>
            <a:pPr fontAlgn="base"/>
            <a:r>
              <a:rPr lang="en-US" sz="2000" i="1" dirty="0">
                <a:latin typeface="Times New Roman" panose="02020603050405020304" pitchFamily="18" charset="0"/>
                <a:cs typeface="Times New Roman" panose="02020603050405020304" pitchFamily="18" charset="0"/>
              </a:rPr>
              <a:t>Where k is the key and ?m is a prime number</a:t>
            </a:r>
            <a:endParaRPr lang="en-US" sz="2000" dirty="0">
              <a:latin typeface="Times New Roman" panose="02020603050405020304" pitchFamily="18" charset="0"/>
              <a:cs typeface="Times New Roman" panose="02020603050405020304" pitchFamily="18" charset="0"/>
            </a:endParaRPr>
          </a:p>
          <a:p>
            <a:pPr fontAlgn="base"/>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2186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55342" y="514208"/>
            <a:ext cx="8467725" cy="523220"/>
          </a:xfrm>
          <a:prstGeom prst="rect">
            <a:avLst/>
          </a:prstGeom>
          <a:noFill/>
        </p:spPr>
        <p:txBody>
          <a:bodyPr wrap="square" rtlCol="0">
            <a:spAutoFit/>
          </a:bodyPr>
          <a:lstStyle/>
          <a:p>
            <a:pPr algn="ctr" fontAlgn="base"/>
            <a:r>
              <a:rPr lang="en-US" sz="2800" b="1" dirty="0">
                <a:solidFill>
                  <a:srgbClr val="002060"/>
                </a:solidFill>
                <a:latin typeface="Times New Roman" panose="02020603050405020304" pitchFamily="18" charset="0"/>
                <a:cs typeface="Times New Roman" panose="02020603050405020304" pitchFamily="18" charset="0"/>
              </a:rPr>
              <a:t>Collision Resolution Techniques</a:t>
            </a:r>
          </a:p>
        </p:txBody>
      </p:sp>
      <p:sp>
        <p:nvSpPr>
          <p:cNvPr id="7" name="TextBox 6"/>
          <p:cNvSpPr txBox="1"/>
          <p:nvPr/>
        </p:nvSpPr>
        <p:spPr>
          <a:xfrm>
            <a:off x="955342" y="2115404"/>
            <a:ext cx="10246057" cy="1815882"/>
          </a:xfrm>
          <a:prstGeom prst="rect">
            <a:avLst/>
          </a:prstGeom>
          <a:noFill/>
        </p:spPr>
        <p:txBody>
          <a:bodyPr wrap="square" rtlCol="0">
            <a:spAutoFit/>
          </a:bodyPr>
          <a:lstStyle/>
          <a:p>
            <a:pPr fontAlgn="base"/>
            <a:r>
              <a:rPr lang="en-US" sz="2000" b="1" dirty="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Hashing</a:t>
            </a:r>
            <a:r>
              <a:rPr lang="en-US" sz="2000" b="1" dirty="0">
                <a:latin typeface="Times New Roman" panose="02020603050405020304" pitchFamily="18" charset="0"/>
                <a:cs typeface="Times New Roman" panose="02020603050405020304" pitchFamily="18" charset="0"/>
              </a:rPr>
              <a:t>, hash functions were used to generate hash values. The hash value is used to create an index for the keys in the hash table. The hash function may return the same hash value for two or more keys. When two or more keys have the same hash value, a </a:t>
            </a:r>
            <a:r>
              <a:rPr lang="en-US" sz="2000" dirty="0">
                <a:latin typeface="Times New Roman" panose="02020603050405020304" pitchFamily="18" charset="0"/>
                <a:cs typeface="Times New Roman" panose="02020603050405020304" pitchFamily="18" charset="0"/>
              </a:rPr>
              <a:t>collision</a:t>
            </a:r>
            <a:r>
              <a:rPr lang="en-US" sz="2000" b="1" dirty="0">
                <a:latin typeface="Times New Roman" panose="02020603050405020304" pitchFamily="18" charset="0"/>
                <a:cs typeface="Times New Roman" panose="02020603050405020304" pitchFamily="18" charset="0"/>
              </a:rPr>
              <a:t> happens. To handle this collision, we use </a:t>
            </a:r>
            <a:r>
              <a:rPr lang="en-US" sz="2000" dirty="0">
                <a:latin typeface="Times New Roman" panose="02020603050405020304" pitchFamily="18" charset="0"/>
                <a:cs typeface="Times New Roman" panose="02020603050405020304" pitchFamily="18" charset="0"/>
              </a:rPr>
              <a:t>Collision Resolution Techniques</a:t>
            </a:r>
            <a:r>
              <a:rPr lang="en-US" b="1" dirty="0"/>
              <a:t>.</a:t>
            </a:r>
          </a:p>
          <a:p>
            <a:pPr fontAlgn="base"/>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2636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55342" y="514208"/>
            <a:ext cx="8467725" cy="523220"/>
          </a:xfrm>
          <a:prstGeom prst="rect">
            <a:avLst/>
          </a:prstGeom>
          <a:noFill/>
        </p:spPr>
        <p:txBody>
          <a:bodyPr wrap="square" rtlCol="0">
            <a:spAutoFit/>
          </a:bodyPr>
          <a:lstStyle/>
          <a:p>
            <a:pPr algn="ctr" fontAlgn="base"/>
            <a:r>
              <a:rPr lang="en-US" sz="2800" b="1" dirty="0">
                <a:solidFill>
                  <a:srgbClr val="002060"/>
                </a:solidFill>
                <a:latin typeface="Times New Roman" panose="02020603050405020304" pitchFamily="18" charset="0"/>
                <a:cs typeface="Times New Roman" panose="02020603050405020304" pitchFamily="18" charset="0"/>
              </a:rPr>
              <a:t>Collision Resolution Techniques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1835" y="0"/>
            <a:ext cx="9588330" cy="6858000"/>
          </a:xfrm>
          <a:prstGeom prst="rect">
            <a:avLst/>
          </a:prstGeom>
        </p:spPr>
      </p:pic>
    </p:spTree>
    <p:extLst>
      <p:ext uri="{BB962C8B-B14F-4D97-AF65-F5344CB8AC3E}">
        <p14:creationId xmlns:p14="http://schemas.microsoft.com/office/powerpoint/2010/main" val="1595996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55342" y="514208"/>
            <a:ext cx="8467725" cy="523220"/>
          </a:xfrm>
          <a:prstGeom prst="rect">
            <a:avLst/>
          </a:prstGeom>
          <a:noFill/>
        </p:spPr>
        <p:txBody>
          <a:bodyPr wrap="square" rtlCol="0">
            <a:spAutoFit/>
          </a:bodyPr>
          <a:lstStyle/>
          <a:p>
            <a:pPr algn="ctr" fontAlgn="base"/>
            <a:r>
              <a:rPr lang="en-US" sz="2800" b="1" dirty="0">
                <a:solidFill>
                  <a:srgbClr val="002060"/>
                </a:solidFill>
                <a:latin typeface="Times New Roman" panose="02020603050405020304" pitchFamily="18" charset="0"/>
                <a:cs typeface="Times New Roman" panose="02020603050405020304" pitchFamily="18" charset="0"/>
              </a:rPr>
              <a:t>Collision Resolution Techniques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1835" y="1866900"/>
            <a:ext cx="9014865" cy="4991100"/>
          </a:xfrm>
          <a:prstGeom prst="rect">
            <a:avLst/>
          </a:prstGeom>
        </p:spPr>
      </p:pic>
      <mc:AlternateContent xmlns:mc="http://schemas.openxmlformats.org/markup-compatibility/2006">
        <mc:Choice xmlns:p14="http://schemas.microsoft.com/office/powerpoint/2010/main" Requires="p14">
          <p:contentPart p14:bwMode="auto" r:id="rId3">
            <p14:nvContentPartPr>
              <p14:cNvPr id="9" name="Ink 8"/>
              <p14:cNvContentPartPr/>
              <p14:nvPr/>
            </p14:nvContentPartPr>
            <p14:xfrm>
              <a:off x="9232880" y="2158120"/>
              <a:ext cx="703440" cy="350640"/>
            </p14:xfrm>
          </p:contentPart>
        </mc:Choice>
        <mc:Fallback>
          <p:pic>
            <p:nvPicPr>
              <p:cNvPr id="9" name="Ink 8"/>
              <p:cNvPicPr/>
              <p:nvPr/>
            </p:nvPicPr>
            <p:blipFill>
              <a:blip r:embed="rId4"/>
              <a:stretch>
                <a:fillRect/>
              </a:stretch>
            </p:blipFill>
            <p:spPr>
              <a:xfrm>
                <a:off x="9194720" y="2119960"/>
                <a:ext cx="779760" cy="426960"/>
              </a:xfrm>
              <a:prstGeom prst="rect">
                <a:avLst/>
              </a:prstGeom>
            </p:spPr>
          </p:pic>
        </mc:Fallback>
      </mc:AlternateContent>
    </p:spTree>
    <p:extLst>
      <p:ext uri="{BB962C8B-B14F-4D97-AF65-F5344CB8AC3E}">
        <p14:creationId xmlns:p14="http://schemas.microsoft.com/office/powerpoint/2010/main" val="2390416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82342" y="844408"/>
            <a:ext cx="8467725" cy="523220"/>
          </a:xfrm>
          <a:prstGeom prst="rect">
            <a:avLst/>
          </a:prstGeom>
          <a:noFill/>
        </p:spPr>
        <p:txBody>
          <a:bodyPr wrap="square" rtlCol="0">
            <a:spAutoFit/>
          </a:bodyPr>
          <a:lstStyle/>
          <a:p>
            <a:pPr algn="ctr" fontAlgn="base"/>
            <a:r>
              <a:rPr lang="en-US" sz="2800" b="1" dirty="0" smtClean="0">
                <a:solidFill>
                  <a:srgbClr val="002060"/>
                </a:solidFill>
                <a:latin typeface="Times New Roman" panose="02020603050405020304" pitchFamily="18" charset="0"/>
                <a:cs typeface="Times New Roman" panose="02020603050405020304" pitchFamily="18" charset="0"/>
              </a:rPr>
              <a:t>Linear probing method</a:t>
            </a:r>
            <a:endParaRPr lang="en-US" sz="2800" b="1" dirty="0">
              <a:solidFill>
                <a:srgbClr val="002060"/>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0" y="1854200"/>
            <a:ext cx="12192000" cy="5016758"/>
          </a:xfrm>
          <a:prstGeom prst="rect">
            <a:avLst/>
          </a:prstGeom>
          <a:noFill/>
        </p:spPr>
        <p:txBody>
          <a:bodyPr wrap="square" rtlCol="0">
            <a:spAutoFit/>
          </a:bodyPr>
          <a:lstStyle/>
          <a:p>
            <a:pPr fontAlgn="base"/>
            <a:r>
              <a:rPr lang="en-US" sz="3200" i="1" dirty="0">
                <a:latin typeface="Times New Roman" panose="02020603050405020304" pitchFamily="18" charset="0"/>
                <a:cs typeface="Times New Roman" panose="02020603050405020304" pitchFamily="18" charset="0"/>
              </a:rPr>
              <a:t>Let </a:t>
            </a:r>
            <a:r>
              <a:rPr lang="en-US" sz="3200" b="1" i="1" dirty="0">
                <a:latin typeface="Times New Roman" panose="02020603050405020304" pitchFamily="18" charset="0"/>
                <a:cs typeface="Times New Roman" panose="02020603050405020304" pitchFamily="18" charset="0"/>
              </a:rPr>
              <a:t>hash(x)</a:t>
            </a:r>
            <a:r>
              <a:rPr lang="en-US" sz="3200" i="1" dirty="0">
                <a:latin typeface="Times New Roman" panose="02020603050405020304" pitchFamily="18" charset="0"/>
                <a:cs typeface="Times New Roman" panose="02020603050405020304" pitchFamily="18" charset="0"/>
              </a:rPr>
              <a:t> be the slot index computed using a hash function and </a:t>
            </a:r>
            <a:r>
              <a:rPr lang="en-US" sz="3200" b="1" i="1" dirty="0">
                <a:latin typeface="Times New Roman" panose="02020603050405020304" pitchFamily="18" charset="0"/>
                <a:cs typeface="Times New Roman" panose="02020603050405020304" pitchFamily="18" charset="0"/>
              </a:rPr>
              <a:t>S</a:t>
            </a:r>
            <a:r>
              <a:rPr lang="en-US" sz="3200" i="1" dirty="0">
                <a:latin typeface="Times New Roman" panose="02020603050405020304" pitchFamily="18" charset="0"/>
                <a:cs typeface="Times New Roman" panose="02020603050405020304" pitchFamily="18" charset="0"/>
              </a:rPr>
              <a:t> be the table size .</a:t>
            </a:r>
            <a:endParaRPr lang="en-US" sz="3200" dirty="0">
              <a:latin typeface="Times New Roman" panose="02020603050405020304" pitchFamily="18" charset="0"/>
              <a:cs typeface="Times New Roman" panose="02020603050405020304" pitchFamily="18" charset="0"/>
            </a:endParaRPr>
          </a:p>
          <a:p>
            <a:pPr fontAlgn="base"/>
            <a:r>
              <a:rPr lang="en-US" sz="3200" i="1" dirty="0" err="1">
                <a:latin typeface="Times New Roman" panose="02020603050405020304" pitchFamily="18" charset="0"/>
                <a:cs typeface="Times New Roman" panose="02020603050405020304" pitchFamily="18" charset="0"/>
              </a:rPr>
              <a:t>Fucntion:H</a:t>
            </a:r>
            <a:r>
              <a:rPr lang="en-US" sz="3200" i="1" dirty="0">
                <a:latin typeface="Times New Roman" panose="02020603050405020304" pitchFamily="18" charset="0"/>
                <a:cs typeface="Times New Roman" panose="02020603050405020304" pitchFamily="18" charset="0"/>
              </a:rPr>
              <a:t>(key)=</a:t>
            </a:r>
            <a:r>
              <a:rPr lang="en-US" sz="3200" i="1" dirty="0" err="1">
                <a:latin typeface="Times New Roman" panose="02020603050405020304" pitchFamily="18" charset="0"/>
                <a:cs typeface="Times New Roman" panose="02020603050405020304" pitchFamily="18" charset="0"/>
              </a:rPr>
              <a:t>key%table_size</a:t>
            </a:r>
            <a:r>
              <a:rPr lang="en-US" sz="3200" i="1" dirty="0">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p>
            <a:pPr fontAlgn="base"/>
            <a:r>
              <a:rPr lang="en-US" sz="3200" i="1" dirty="0">
                <a:latin typeface="Times New Roman" panose="02020603050405020304" pitchFamily="18" charset="0"/>
                <a:cs typeface="Times New Roman" panose="02020603050405020304" pitchFamily="18" charset="0"/>
              </a:rPr>
              <a:t>The function used for rehashing is as follows: rehash(key) = (n+1)%table-size. </a:t>
            </a:r>
            <a:endParaRPr lang="en-US" sz="3200" dirty="0">
              <a:latin typeface="Times New Roman" panose="02020603050405020304" pitchFamily="18" charset="0"/>
              <a:cs typeface="Times New Roman" panose="02020603050405020304" pitchFamily="18" charset="0"/>
            </a:endParaRPr>
          </a:p>
          <a:p>
            <a:pPr fontAlgn="base"/>
            <a:r>
              <a:rPr lang="en-US" sz="3200" i="1" dirty="0">
                <a:latin typeface="Times New Roman" panose="02020603050405020304" pitchFamily="18" charset="0"/>
                <a:cs typeface="Times New Roman" panose="02020603050405020304" pitchFamily="18" charset="0"/>
              </a:rPr>
              <a:t>If slot hash(x) % S is full, then we try (hash(key) + 1) % S</a:t>
            </a:r>
            <a:br>
              <a:rPr lang="en-US" sz="3200" i="1" dirty="0">
                <a:latin typeface="Times New Roman" panose="02020603050405020304" pitchFamily="18" charset="0"/>
                <a:cs typeface="Times New Roman" panose="02020603050405020304" pitchFamily="18" charset="0"/>
              </a:rPr>
            </a:br>
            <a:r>
              <a:rPr lang="en-US" sz="3200" i="1" dirty="0">
                <a:latin typeface="Times New Roman" panose="02020603050405020304" pitchFamily="18" charset="0"/>
                <a:cs typeface="Times New Roman" panose="02020603050405020304" pitchFamily="18" charset="0"/>
              </a:rPr>
              <a:t>If (hash(x) + 1) % S is also full, then we try (hash(key) + 2) % S</a:t>
            </a:r>
            <a:br>
              <a:rPr lang="en-US" sz="3200" i="1" dirty="0">
                <a:latin typeface="Times New Roman" panose="02020603050405020304" pitchFamily="18" charset="0"/>
                <a:cs typeface="Times New Roman" panose="02020603050405020304" pitchFamily="18" charset="0"/>
              </a:rPr>
            </a:br>
            <a:r>
              <a:rPr lang="en-US" sz="3200" i="1" dirty="0">
                <a:latin typeface="Times New Roman" panose="02020603050405020304" pitchFamily="18" charset="0"/>
                <a:cs typeface="Times New Roman" panose="02020603050405020304" pitchFamily="18" charset="0"/>
              </a:rPr>
              <a:t>If (hash(x) + 2) % S is also full, then we try (hash(key) + 3) % S</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Given key:10, 3, 6, 16, 17, </a:t>
            </a:r>
            <a:r>
              <a:rPr lang="en-US" sz="3200" dirty="0" smtClean="0">
                <a:latin typeface="Times New Roman" panose="02020603050405020304" pitchFamily="18" charset="0"/>
                <a:cs typeface="Times New Roman" panose="02020603050405020304" pitchFamily="18" charset="0"/>
              </a:rPr>
              <a:t>19 </a:t>
            </a:r>
          </a:p>
          <a:p>
            <a:r>
              <a:rPr lang="en-US" sz="3200" dirty="0" smtClean="0">
                <a:latin typeface="Times New Roman" panose="02020603050405020304" pitchFamily="18" charset="0"/>
                <a:cs typeface="Times New Roman" panose="02020603050405020304" pitchFamily="18" charset="0"/>
              </a:rPr>
              <a:t>Here the Table size:13</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0254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82342" y="844408"/>
            <a:ext cx="8467725" cy="523220"/>
          </a:xfrm>
          <a:prstGeom prst="rect">
            <a:avLst/>
          </a:prstGeom>
          <a:noFill/>
        </p:spPr>
        <p:txBody>
          <a:bodyPr wrap="square" rtlCol="0">
            <a:spAutoFit/>
          </a:bodyPr>
          <a:lstStyle/>
          <a:p>
            <a:pPr algn="ctr" fontAlgn="base"/>
            <a:r>
              <a:rPr lang="en-US" sz="2800" b="1" dirty="0" smtClean="0">
                <a:solidFill>
                  <a:srgbClr val="002060"/>
                </a:solidFill>
                <a:latin typeface="Times New Roman" panose="02020603050405020304" pitchFamily="18" charset="0"/>
                <a:cs typeface="Times New Roman" panose="02020603050405020304" pitchFamily="18" charset="0"/>
              </a:rPr>
              <a:t>Linear probing method</a:t>
            </a:r>
            <a:endParaRPr lang="en-US" sz="28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3473852306"/>
              </p:ext>
            </p:extLst>
          </p:nvPr>
        </p:nvGraphicFramePr>
        <p:xfrm>
          <a:off x="2032000" y="719666"/>
          <a:ext cx="8127994" cy="741680"/>
        </p:xfrm>
        <a:graphic>
          <a:graphicData uri="http://schemas.openxmlformats.org/drawingml/2006/table">
            <a:tbl>
              <a:tblPr firstRow="1" bandRow="1">
                <a:tableStyleId>{08FB837D-C827-4EFA-A057-4D05807E0F7C}</a:tableStyleId>
              </a:tblPr>
              <a:tblGrid>
                <a:gridCol w="580571">
                  <a:extLst>
                    <a:ext uri="{9D8B030D-6E8A-4147-A177-3AD203B41FA5}">
                      <a16:colId xmlns:a16="http://schemas.microsoft.com/office/drawing/2014/main" val="3957098051"/>
                    </a:ext>
                  </a:extLst>
                </a:gridCol>
                <a:gridCol w="580571">
                  <a:extLst>
                    <a:ext uri="{9D8B030D-6E8A-4147-A177-3AD203B41FA5}">
                      <a16:colId xmlns:a16="http://schemas.microsoft.com/office/drawing/2014/main" val="1609244601"/>
                    </a:ext>
                  </a:extLst>
                </a:gridCol>
                <a:gridCol w="580571">
                  <a:extLst>
                    <a:ext uri="{9D8B030D-6E8A-4147-A177-3AD203B41FA5}">
                      <a16:colId xmlns:a16="http://schemas.microsoft.com/office/drawing/2014/main" val="3784782816"/>
                    </a:ext>
                  </a:extLst>
                </a:gridCol>
                <a:gridCol w="580571">
                  <a:extLst>
                    <a:ext uri="{9D8B030D-6E8A-4147-A177-3AD203B41FA5}">
                      <a16:colId xmlns:a16="http://schemas.microsoft.com/office/drawing/2014/main" val="1160681031"/>
                    </a:ext>
                  </a:extLst>
                </a:gridCol>
                <a:gridCol w="580571">
                  <a:extLst>
                    <a:ext uri="{9D8B030D-6E8A-4147-A177-3AD203B41FA5}">
                      <a16:colId xmlns:a16="http://schemas.microsoft.com/office/drawing/2014/main" val="1082359082"/>
                    </a:ext>
                  </a:extLst>
                </a:gridCol>
                <a:gridCol w="580571">
                  <a:extLst>
                    <a:ext uri="{9D8B030D-6E8A-4147-A177-3AD203B41FA5}">
                      <a16:colId xmlns:a16="http://schemas.microsoft.com/office/drawing/2014/main" val="1310126368"/>
                    </a:ext>
                  </a:extLst>
                </a:gridCol>
                <a:gridCol w="580571">
                  <a:extLst>
                    <a:ext uri="{9D8B030D-6E8A-4147-A177-3AD203B41FA5}">
                      <a16:colId xmlns:a16="http://schemas.microsoft.com/office/drawing/2014/main" val="1911017939"/>
                    </a:ext>
                  </a:extLst>
                </a:gridCol>
                <a:gridCol w="580571">
                  <a:extLst>
                    <a:ext uri="{9D8B030D-6E8A-4147-A177-3AD203B41FA5}">
                      <a16:colId xmlns:a16="http://schemas.microsoft.com/office/drawing/2014/main" val="2353107252"/>
                    </a:ext>
                  </a:extLst>
                </a:gridCol>
                <a:gridCol w="580571">
                  <a:extLst>
                    <a:ext uri="{9D8B030D-6E8A-4147-A177-3AD203B41FA5}">
                      <a16:colId xmlns:a16="http://schemas.microsoft.com/office/drawing/2014/main" val="3773959916"/>
                    </a:ext>
                  </a:extLst>
                </a:gridCol>
                <a:gridCol w="580571">
                  <a:extLst>
                    <a:ext uri="{9D8B030D-6E8A-4147-A177-3AD203B41FA5}">
                      <a16:colId xmlns:a16="http://schemas.microsoft.com/office/drawing/2014/main" val="4173161647"/>
                    </a:ext>
                  </a:extLst>
                </a:gridCol>
                <a:gridCol w="580571">
                  <a:extLst>
                    <a:ext uri="{9D8B030D-6E8A-4147-A177-3AD203B41FA5}">
                      <a16:colId xmlns:a16="http://schemas.microsoft.com/office/drawing/2014/main" val="913734681"/>
                    </a:ext>
                  </a:extLst>
                </a:gridCol>
                <a:gridCol w="580571">
                  <a:extLst>
                    <a:ext uri="{9D8B030D-6E8A-4147-A177-3AD203B41FA5}">
                      <a16:colId xmlns:a16="http://schemas.microsoft.com/office/drawing/2014/main" val="1530818364"/>
                    </a:ext>
                  </a:extLst>
                </a:gridCol>
                <a:gridCol w="580571">
                  <a:extLst>
                    <a:ext uri="{9D8B030D-6E8A-4147-A177-3AD203B41FA5}">
                      <a16:colId xmlns:a16="http://schemas.microsoft.com/office/drawing/2014/main" val="303371078"/>
                    </a:ext>
                  </a:extLst>
                </a:gridCol>
                <a:gridCol w="580571">
                  <a:extLst>
                    <a:ext uri="{9D8B030D-6E8A-4147-A177-3AD203B41FA5}">
                      <a16:colId xmlns:a16="http://schemas.microsoft.com/office/drawing/2014/main" val="1390882702"/>
                    </a:ext>
                  </a:extLst>
                </a:gridCol>
              </a:tblGrid>
              <a:tr h="370840">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Index</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7</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12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17119408"/>
                  </a:ext>
                </a:extLst>
              </a:tr>
              <a:tr h="370840">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key</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046901"/>
                  </a:ext>
                </a:extLst>
              </a:tr>
            </a:tbl>
          </a:graphicData>
        </a:graphic>
      </p:graphicFrame>
      <p:sp>
        <p:nvSpPr>
          <p:cNvPr id="13" name="TextBox 12"/>
          <p:cNvSpPr txBox="1"/>
          <p:nvPr/>
        </p:nvSpPr>
        <p:spPr>
          <a:xfrm>
            <a:off x="889000" y="2616200"/>
            <a:ext cx="9817100" cy="1473200"/>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595774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110</Words>
  <Application>Microsoft Office PowerPoint</Application>
  <PresentationFormat>Widescreen</PresentationFormat>
  <Paragraphs>55</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tarek</dc:creator>
  <cp:lastModifiedBy>tarek</cp:lastModifiedBy>
  <cp:revision>24</cp:revision>
  <dcterms:created xsi:type="dcterms:W3CDTF">2025-07-28T13:45:29Z</dcterms:created>
  <dcterms:modified xsi:type="dcterms:W3CDTF">2025-07-28T14:09:08Z</dcterms:modified>
</cp:coreProperties>
</file>